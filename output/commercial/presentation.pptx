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394f65806d4e05" /><Relationship Type="http://schemas.openxmlformats.org/officeDocument/2006/relationships/extended-properties" Target="/docProps/app.xml" Id="R59ce584159804711" /><Relationship Type="http://schemas.openxmlformats.org/officeDocument/2006/relationships/officeDocument" Target="/ppt/presentation.xml" Id="R7996e77477aa40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e897fd2aed4750"/>
  </p:sldMasterIdLst>
  <p:notesMasterIdLst>
    <p:notesMasterId xmlns:r="http://schemas.openxmlformats.org/officeDocument/2006/relationships" r:id="Ra2a211470f334020"/>
  </p:notesMasterIdLst>
  <p:sldIdLst>
    <p:sldId xmlns:r="http://schemas.openxmlformats.org/officeDocument/2006/relationships" id="256" r:id="R83148630ab25463d"/>
    <p:sldId xmlns:r="http://schemas.openxmlformats.org/officeDocument/2006/relationships" id="257" r:id="R5b71d7e06e54472b"/>
    <p:sldId xmlns:r="http://schemas.openxmlformats.org/officeDocument/2006/relationships" id="258" r:id="R52f518365b644be2"/>
    <p:sldId xmlns:r="http://schemas.openxmlformats.org/officeDocument/2006/relationships" id="259" r:id="R95a27018d6484182"/>
    <p:sldId xmlns:r="http://schemas.openxmlformats.org/officeDocument/2006/relationships" id="260" r:id="R48b8ee5a4e1e4b63"/>
    <p:sldId xmlns:r="http://schemas.openxmlformats.org/officeDocument/2006/relationships" id="261" r:id="R5b2367c6f2264e13"/>
    <p:sldId xmlns:r="http://schemas.openxmlformats.org/officeDocument/2006/relationships" id="262" r:id="Rf663833810ac4afc"/>
    <p:sldId xmlns:r="http://schemas.openxmlformats.org/officeDocument/2006/relationships" id="263" r:id="R71036e16316f43c6"/>
    <p:sldId xmlns:r="http://schemas.openxmlformats.org/officeDocument/2006/relationships" id="264" r:id="R906c386937c84b9a"/>
    <p:sldId xmlns:r="http://schemas.openxmlformats.org/officeDocument/2006/relationships" id="265" r:id="R5bdec8a0100341f6"/>
    <p:sldId xmlns:r="http://schemas.openxmlformats.org/officeDocument/2006/relationships" id="266" r:id="R40c8e71f24054251"/>
    <p:sldId xmlns:r="http://schemas.openxmlformats.org/officeDocument/2006/relationships" id="267" r:id="R57a32a43dc784a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73fb747c5a40f1" /><Relationship Type="http://schemas.openxmlformats.org/officeDocument/2006/relationships/slideMaster" Target="/ppt/slideMasters/slideMaster1.xml" Id="Rfee897fd2aed4750" /><Relationship Type="http://schemas.openxmlformats.org/officeDocument/2006/relationships/notesMaster" Target="/ppt/notesMasters/notesMaster1.xml" Id="Ra2a211470f334020" /><Relationship Type="http://schemas.openxmlformats.org/officeDocument/2006/relationships/presProps" Target="/ppt/presProps.xml" Id="Rdc585fc1b5c947e8" /><Relationship Type="http://schemas.openxmlformats.org/officeDocument/2006/relationships/tableStyles" Target="/ppt/tableStyles.xml" Id="R8db6da0f5d094f0b" /><Relationship Type="http://schemas.openxmlformats.org/officeDocument/2006/relationships/slide" Target="/ppt/slides/slide1.xml" Id="R83148630ab25463d" /><Relationship Type="http://schemas.openxmlformats.org/officeDocument/2006/relationships/slide" Target="/ppt/slides/slide2.xml" Id="R5b71d7e06e54472b" /><Relationship Type="http://schemas.openxmlformats.org/officeDocument/2006/relationships/slide" Target="/ppt/slides/slide3.xml" Id="R52f518365b644be2" /><Relationship Type="http://schemas.openxmlformats.org/officeDocument/2006/relationships/slide" Target="/ppt/slides/slide4.xml" Id="R95a27018d6484182" /><Relationship Type="http://schemas.openxmlformats.org/officeDocument/2006/relationships/slide" Target="/ppt/slides/slide5.xml" Id="R48b8ee5a4e1e4b63" /><Relationship Type="http://schemas.openxmlformats.org/officeDocument/2006/relationships/slide" Target="/ppt/slides/slide6.xml" Id="R5b2367c6f2264e13" /><Relationship Type="http://schemas.openxmlformats.org/officeDocument/2006/relationships/slide" Target="/ppt/slides/slide7.xml" Id="Rf663833810ac4afc" /><Relationship Type="http://schemas.openxmlformats.org/officeDocument/2006/relationships/slide" Target="/ppt/slides/slide8.xml" Id="R71036e16316f43c6" /><Relationship Type="http://schemas.openxmlformats.org/officeDocument/2006/relationships/slide" Target="/ppt/slides/slide9.xml" Id="R906c386937c84b9a" /><Relationship Type="http://schemas.openxmlformats.org/officeDocument/2006/relationships/slide" Target="/ppt/slides/slide10.xml" Id="R5bdec8a0100341f6" /><Relationship Type="http://schemas.openxmlformats.org/officeDocument/2006/relationships/slide" Target="/ppt/slides/slide11.xml" Id="R40c8e71f24054251" /><Relationship Type="http://schemas.openxmlformats.org/officeDocument/2006/relationships/slide" Target="/ppt/slides/slide12.xml" Id="R57a32a43dc784a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4de3dde08e45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63b7e18cf84da1" /><Relationship Type="http://schemas.openxmlformats.org/officeDocument/2006/relationships/notesMaster" Target="/ppt/notesMasters/notesMaster1.xml" Id="Rf6fcb9d93c7f4c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d0ab28cbfb4278" /><Relationship Type="http://schemas.openxmlformats.org/officeDocument/2006/relationships/notesMaster" Target="/ppt/notesMasters/notesMaster1.xml" Id="R8322433ea7dc41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83206daa0d4aef" /><Relationship Type="http://schemas.openxmlformats.org/officeDocument/2006/relationships/notesMaster" Target="/ppt/notesMasters/notesMaster1.xml" Id="R16599780e2044c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d339724106433f" /><Relationship Type="http://schemas.openxmlformats.org/officeDocument/2006/relationships/notesMaster" Target="/ppt/notesMasters/notesMaster1.xml" Id="R676084ea35d041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1b39415f17428c" /><Relationship Type="http://schemas.openxmlformats.org/officeDocument/2006/relationships/notesMaster" Target="/ppt/notesMasters/notesMaster1.xml" Id="R8c6745be71ee41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6988cc3f9c4d21" /><Relationship Type="http://schemas.openxmlformats.org/officeDocument/2006/relationships/notesMaster" Target="/ppt/notesMasters/notesMaster1.xml" Id="R0d491d31a8ef4f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91919646e74d51" /><Relationship Type="http://schemas.openxmlformats.org/officeDocument/2006/relationships/notesMaster" Target="/ppt/notesMasters/notesMaster1.xml" Id="R0f217cf5f9c84a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ad022465514617" /><Relationship Type="http://schemas.openxmlformats.org/officeDocument/2006/relationships/notesMaster" Target="/ppt/notesMasters/notesMaster1.xml" Id="Rfa7ff8d04f8343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de65ce46424f07" /><Relationship Type="http://schemas.openxmlformats.org/officeDocument/2006/relationships/notesMaster" Target="/ppt/notesMasters/notesMaster1.xml" Id="R14724ceabd884b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4cd728a8264935" /><Relationship Type="http://schemas.openxmlformats.org/officeDocument/2006/relationships/notesMaster" Target="/ppt/notesMasters/notesMaster1.xml" Id="Rba7660b0ee364a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9671eca5514966" /><Relationship Type="http://schemas.openxmlformats.org/officeDocument/2006/relationships/notesMaster" Target="/ppt/notesMasters/notesMaster1.xml" Id="R46b074a751c148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e875273fef433e" /><Relationship Type="http://schemas.openxmlformats.org/officeDocument/2006/relationships/notesMaster" Target="/ppt/notesMasters/notesMaster1.xml" Id="R22f24a08014547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материалы, предоставленные заказчиком 6 октября 2026 года. Названия, функциональность и результаты проектов приведены по этим материалам.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cdfe57e194d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58a77c2a554569" /><Relationship Type="http://schemas.openxmlformats.org/officeDocument/2006/relationships/slideLayout" Target="/ppt/slideLayouts/slideLayout1.xml" Id="R1e1660186ec14d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1660186ec14d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28ed45eec4509" /><Relationship Type="http://schemas.openxmlformats.org/officeDocument/2006/relationships/notesSlide" Target="/ppt/notesSlides/notesSlide1.xml" Id="Rbcdc2d4df97f44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0c64500b740a4" /><Relationship Type="http://schemas.openxmlformats.org/officeDocument/2006/relationships/notesSlide" Target="/ppt/notesSlides/notesSlide2.xml" Id="R1ad8494b4cd944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c7b133714b79" /><Relationship Type="http://schemas.openxmlformats.org/officeDocument/2006/relationships/notesSlide" Target="/ppt/notesSlides/notesSlide3.xml" Id="R6f58af58119a41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6650da9f74772" /><Relationship Type="http://schemas.openxmlformats.org/officeDocument/2006/relationships/notesSlide" Target="/ppt/notesSlides/notesSlide4.xml" Id="Re3913d092a8946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38bfa3be348a4" /><Relationship Type="http://schemas.openxmlformats.org/officeDocument/2006/relationships/notesSlide" Target="/ppt/notesSlides/notesSlide5.xml" Id="R4c380747015145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32a3b958c4885" /><Relationship Type="http://schemas.openxmlformats.org/officeDocument/2006/relationships/notesSlide" Target="/ppt/notesSlides/notesSlide6.xml" Id="Rdcef3ecb85b242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f4d795bad4b64" /><Relationship Type="http://schemas.openxmlformats.org/officeDocument/2006/relationships/notesSlide" Target="/ppt/notesSlides/notesSlide7.xml" Id="R6200049b91b74c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760ceba5a4fc5" /><Relationship Type="http://schemas.openxmlformats.org/officeDocument/2006/relationships/notesSlide" Target="/ppt/notesSlides/notesSlide8.xml" Id="R90678a780f3e44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bbb927f704ac3" /><Relationship Type="http://schemas.openxmlformats.org/officeDocument/2006/relationships/notesSlide" Target="/ppt/notesSlides/notesSlide9.xml" Id="R309cf0b2edf043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67d5e03d04f28" /><Relationship Type="http://schemas.openxmlformats.org/officeDocument/2006/relationships/notesSlide" Target="/ppt/notesSlides/notesSlide10.xml" Id="R348d448b92f044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be67fd38e41be" /><Relationship Type="http://schemas.openxmlformats.org/officeDocument/2006/relationships/notesSlide" Target="/ppt/notesSlides/notesSlide11.xml" Id="R622b256f26a745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0326f31814257" /><Relationship Type="http://schemas.openxmlformats.org/officeDocument/2006/relationships/notesSlide" Target="/ppt/notesSlides/notesSlide12.xml" Id="R474e51faeba140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D3472-EA74-436C-BFA1-4E0566FB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8D7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8D7C6"/>
                </a:solidFill>
                <a:latin typeface="Helvetica Neue"/>
                <a:ea typeface="Helvetica Neue"/>
                <a:cs typeface="Helvetica Neue"/>
              </a:rPr>
              <a:t>ООО «Конструкция Решений»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96B70-AE2A-4423-8568-B6174AC9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Конструкция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Решений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56E73-084C-41C1-8709-BF4F0BDA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Разработка программного обеспечения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для бизнеса и государственных организаций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4CAEC-1EA5-4FE3-9E48-47D6F413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8D7C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86977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18BD6-0E0D-4673-8DC4-3E0EBBBE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Команда полного цикла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DB29D-6AFC-4047-9F7A-AD9FAE2B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12 лет опыта разработки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B298A-B1C0-474E-B236-8DCB170B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6 специалистов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645F5-5FA6-4CBF-AE21-9135BC83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Тимлид, frontend- и backend-разработчики, DevOps, дизайнер и специалист по продажам.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CCE7A-39AB-4231-B17D-0906FE68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Единая команда проекта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329F6-0EF0-443B-ABD5-0B469455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От анализа процессов и проектирования интерфейса до внедрения и сопровождения.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8B843-FB11-4D5E-991C-9C71BCBF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ООО «Конструкция Решений»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9BE5B-A7F8-4ADC-9EC8-CD6A595C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919531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26E21-E17D-4E5A-8A3E-9C8B43BA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Направления разработки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4B5C2-E12E-44E7-B8D5-1C611276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CRM и ERP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E5D31-12DC-4E0F-A1AE-8650389E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Заявки, продажи, склад, касса, KPI и управленческая аналитика.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F7E7D-0EFF-4179-B778-CB00F1D7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SaaS-платформы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97CD3-64BD-433E-8850-3AD57D5D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Несколько организаций, филиалы, разграничение доступа.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CA8DA-5B02-44EC-A9E6-05A78D35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Интеграции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C449E-49DC-4516-BF48-7836B2D7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1С, телефония, почта, сайты и платёжные системы.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4E74B-297E-4003-B894-CF79775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Обучение и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029B9-54E1-4916-867B-82F73339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Образовательные приложения, чат-боты и AI/ML под задачи заказчика.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18488-9FD6-4E26-8B2B-C0EAA90F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3658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00E42-2ACE-4624-AB9D-E1692A89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CRM для промышленного холдинга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E65BE-E2E6-4472-BACB-9FB205B2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Единая среда обработки входящих заявок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701E1-413D-460E-A43A-C85D8719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Задача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E949C-8A37-45AE-A44B-8BD02FFC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Организовать работу в изолированном контуре и автоматизировать распределение обращений.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E5C94-04C7-4023-B584-672CED0B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62640-F2D8-4784-A692-A4991E25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Собственная CRM с интеграциями телефонии, почты и сайта. Распределение по отделам, руководителям и менеджерам.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0A7A7-7A87-4A97-8381-755362D1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Python / Django, React, PostgreSQL, Redis, WebSocket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DEDE8-A30D-41A0-BB58-0B128482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4463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EB278-2784-4FE2-B54B-B122D69D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Рабочие процессы в одной системе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AF7C0-675F-4A6E-A344-531E0AF7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Обращения и коммуникации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75109-9373-4A37-8F25-4C8F33BC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Софтфон, журнал звонков, транскрипты и единый интерфейс диалогов.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4665C-F812-4DB2-BAA9-B943CD01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Управление работой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18D65-6133-4C33-89CC-3CF727DB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Канбан, календарь, сроки, диаграмма Ганта и обсуждения задач.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529D7-6D13-4CB3-8229-B4CB33AF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Найм и аналитика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DA5A8-FF05-47BB-B358-5E2B873B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Воронка кандидатов, отчёты по менеджерам, отделам и источникам.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3A35D-FE11-48E6-A6D8-FE502B80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Контроль данных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821E9-4890-4D65-9008-07C02D83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Ограничения доступа по IP и проверка сообщений по правилам AI Control / DLP.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EBC03-3068-4E2E-A0DE-444A2EF7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Собственная разработка с интерфейсом, вдохновлённым UX Битрикс24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B0AE1-A131-4599-B88F-011A47B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1040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65E04-6B31-48D5-8E75-9A5A2F7B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Контроль доступа 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081A5-7F4B-47F0-9E4A-1BE4BAD7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Защита на нескольких уровнях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C0779-91C1-4B2D-9674-853039CD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Доступ к системе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417DF-0203-475B-8DE2-95DBF5D5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Ограничения по IP дополняют авторизацию и правила доступа сотрудников.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A55FC-B4DE-4E69-AE53-1E607CB1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Контроль сообщений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BC8AE-37C3-4D97-9A52-4A76CAA6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Локальный модуль проверяет чувствительные данные, внешние ссылки и запрещённые фразы.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1D634-517A-4AF9-AB6B-238DF399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В проекте предусмотрены шифрование и контроль защищённости. Конкретный состав средств защиты определяется требованиями контура.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4D372-7819-4745-AD94-B11AF808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1142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3F8EE-7C96-4966-B0CB-54E67B17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Образовательное приложение МГИМО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25491-D10C-461E-9D46-43DDE3BB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Английский и испанский в контексте</a:t>
            </a:r>
          </a:p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международных отношений и дипломатии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641C3-F992-4176-9F40-27DACDF6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Учебные сценарии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811FA-A86B-4CCB-90D0-3FD7980D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Флэш-карты, выбор перевода, сборка слова, аудирование и проверка произношения через микрофон.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1982-0A3E-42EA-A5E8-9DA48EC4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Вовлечение студентов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561C7-320C-4C3A-92D6-A83D0763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Тематические модули, XP, уровни, серия дней, дневная цель и прогресс. Интерфейс на русском и английском.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0F2C4-057D-4D7B-AFB1-C1FD3ED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80 студентов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E950F-41BD-428A-835E-6F016FD9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1495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зарегистрировались и начали обучение при тестовом запуске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7CBBF-276D-448C-8EF9-68C83040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Python, React, TypeScript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AC443-9648-4E09-A12C-AA68C07D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35084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BA133-73D8-479F-8CF9-C6C22B75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ERP/CRM для автобизнеса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57936-E618-4C84-B596-050C7403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Заказ от входящего лида до акта</a:t>
            </a:r>
          </a:p>
          <a:p xmlns:a="http://schemas.openxmlformats.org/drawingml/2006/main">
            <a:pPr>
              <a:defRPr sz="2325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приёмки-передачи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FAD93-821B-418B-A1E4-F3279FD1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Операционный контур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5A56B-E9B9-430A-8A43-67F3E09B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CRM, заказы, реестр автомобилей, склад с FIFO, закупки, инвентаризация и перемещения.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AC34E-E36B-4AFF-A68B-6874B8B6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Финансовый контур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BA4EE-277D-4A41-B41A-E45E8284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POS, смены, скидки, несколько способов оплаты, выработка мастеров и правила мотивации.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0B599-BD54-480C-8CA0-BBA17B8A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Python / Django, React, PostgreSQL, Redis, WebSocket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0C351-6F42-4A65-991D-9FAAAC40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1199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AE86A-81BF-452C-8505-1E45B29E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Архитектура SaaS-платформы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06E7E-32ED-47A8-8C85-AFE78CB0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Организации и филиалы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4E4C4-2D59-4AC7-BCBC-D1A0671F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Мультитенантность, RLS, роли и права доступа.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D43C4-7454-4564-88AE-FFD84AC0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Интеграция с 1С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10C79-5E11-407D-B7C8-33BB89C6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Обмен через CommerceML, настройки и журнал синхронизации.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BB51A-FB34-4B78-ACD9-124387FD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Контроль операций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30795-102D-420F-92E8-0CBFD18F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Аудит действий с фильтрами по пользователю, сущности и 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FF50A-8BE1-49B2-B5B5-726CCA67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Дополнительные модули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62B51-54D6-4AC0-BBD5-8F39FE13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Экран очереди с обновлением через WebSocket и калькулятор ROI.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2D6AD-E58D-4B4F-B6DB-5AF9F6A0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Результат: готовая платформа с демо-стендом и возможностью подключения новых организаций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C7279-90B9-4B7F-A997-442C1FAB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04419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1590C-BF22-438D-A5D3-AB630293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Другие проекты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84786-2EAC-42EF-A6B9-903BCEE7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Инвестиционная карта ЧР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82066-4D09-4579-9286-DA63F3A7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Сайт с интерактивной картой инвестиционных возможностей для Минэкономразвития и торговли Чеченской Республики.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5D3A1-6BB5-4D10-BD8C-BF45E2B5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Машэнергопром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13A92-4957-4F4E-A4B8-7FAD7311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Корпоративный сайт для компании в сфере машиностроения и энергетики.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0AA7A-CA99-4909-8A26-48A74961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Здравоохранение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73A1D-6B1F-4999-B7A8-B5396265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Система учёта пациентов и записи через интерактивный терминал.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09B3B-BECE-4C39-AE21-DF906B79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Яндекс Карты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B6B56-BB9D-49AC-8473-5219C85E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Модуль отзывов с геолокацией для работы с картами.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C4F8B-E363-4ADB-B029-3C6D22E4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42815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E8300-02DA-44B4-9C6D-03924BC9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Организация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D0F00-471E-44CF-B00C-1399E931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01  Анализ и оценка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2E710-5465-4D3D-8ED2-02B0FC6D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Обсуждаем процессы, пользователей, интеграции и ограничения.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385D1-DAE9-452E-BD0C-E673C3EE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02  Согласование этапов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2DB23-A8C0-4BEA-91F1-5D3BE026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Фиксируем объём, результаты, критерии приёмки, стоимость и сроки.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D1F3C-1918-4A78-97D7-1E167581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03  Разработка и приёмка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93022-FAD6-44DB-BCFD-595B81F5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Демонстрируем результат этапа, проводим проверку и принимаем обратную связь.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AEB2A-5114-4C2B-B92E-22FE2AFE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7F75"/>
                </a:solidFill>
                <a:latin typeface="Helvetica Neue"/>
                <a:ea typeface="Helvetica Neue"/>
                <a:cs typeface="Helvetica Neue"/>
              </a:rPr>
              <a:t>04  Внедрение и развитие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2F3AE-179B-46ED-A17C-E386248F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712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B3A"/>
                </a:solidFill>
                <a:latin typeface="Helvetica Neue"/>
                <a:ea typeface="Helvetica Neue"/>
                <a:cs typeface="Helvetica Neue"/>
              </a:rPr>
              <a:t>Согласовываем запуск, сопровождение и дальнейшие изменения.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F0A90-E382-42CA-81B9-09EBF000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Поэтапная оплата: выполнение этапа, приёмка, оплата, следующий 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1F43F-47AC-47FA-B516-FD440C63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6677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54769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2ABCB-0EBE-40DF-8228-559D8C55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8D7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8D7C6"/>
                </a:solidFill>
                <a:latin typeface="Helvetica Neue"/>
                <a:ea typeface="Helvetica Neue"/>
                <a:cs typeface="Helvetica Neue"/>
              </a:rPr>
              <a:t>ООО «Конструкция Решений»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D5181-541A-4AA8-89F4-E2A77170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Обсудим вашу задачу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2EC0D-DC29-424F-8EDC-FC9F6CC7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Для оценки проекта нужны описание процессов,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состав пользователей и список интеграций.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53F50-60BD-48F0-8150-9ABA5C7A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8D7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78D7C6"/>
                </a:solidFill>
                <a:latin typeface="Helvetica Neue"/>
                <a:ea typeface="Helvetica Neue"/>
                <a:cs typeface="Helvetica Neue"/>
              </a:rPr>
              <a:t>Подготовим предложение с составом работ,</a:t>
            </a:r>
          </a:p>
          <a:p xmlns:a="http://schemas.openxmlformats.org/drawingml/2006/main">
            <a:pPr>
              <a:defRPr sz="1950" b="0">
                <a:solidFill>
                  <a:srgbClr val="78D7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78D7C6"/>
                </a:solidFill>
                <a:latin typeface="Helvetica Neue"/>
                <a:ea typeface="Helvetica Neue"/>
                <a:cs typeface="Helvetica Neue"/>
              </a:rPr>
              <a:t>этапами, стоимостью и сроками.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B67F1-55C8-47AD-A747-BB8F00F2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7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8D7C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55781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2026-10-06T20:38:17.4390000Z</dcterms:created>
  <dcterms:modified xsi:type="dcterms:W3CDTF">2026-10-06T20:38:17.4390000Z</dcterms:modified>
</coreProperties>
</file>